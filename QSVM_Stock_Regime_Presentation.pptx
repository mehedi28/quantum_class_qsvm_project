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G6Syim7p3FjAeb9RHkEBoE1Se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Entanglement</a:t>
            </a:r>
            <a:r>
              <a:rPr lang="en-US"/>
              <a:t>: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entanglement like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teamwork between qubits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. If you remove it, each qubit works alone.No entanglement = no advantage. It's the whole point.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Inverse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 like a reversing video every detail has to be exactly reversed or the whole thing breaks.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QNNs: 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When the fancy approach fails, a simpler one often works better. Use quantum for what it's good at, and let classical tools handle the rest. </a:t>
            </a:r>
            <a:r>
              <a:rPr b="1" lang="en-US" sz="1100">
                <a:latin typeface="Arial"/>
                <a:ea typeface="Arial"/>
                <a:cs typeface="Arial"/>
                <a:sym typeface="Arial"/>
              </a:rPr>
              <a:t>Quantum</a:t>
            </a:r>
            <a:r>
              <a:rPr lang="en-US" sz="1100">
                <a:latin typeface="Arial"/>
                <a:ea typeface="Arial"/>
                <a:cs typeface="Arial"/>
                <a:sym typeface="Arial"/>
              </a:rPr>
              <a:t>:Quantum models are like a powerful engine  they need enough fuel (data) before they outperform a smaller, simpler engine. </a:t>
            </a:r>
            <a:endParaRPr/>
          </a:p>
        </p:txBody>
      </p:sp>
      <p:sp>
        <p:nvSpPr>
          <p:cNvPr id="254" name="Google Shape;25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2" name="Google Shape;30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1–2: QNN collapsed: Too much shot noise — gradients became meaningless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3–4: Kernel gap too small: Missing entanglement — quantum behaved like classical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5: Features out of range: Data wasn't scaled to match the qubit rotation period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6: Adjoint circuit broken: Self-kernel gave 0.07 instead of 1.00 — circuit was reversed wrong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7th attempt we tried with 2 samples with 100 and 200 samples and with 200 </a:t>
            </a:r>
            <a:r>
              <a:rPr lang="en-US"/>
              <a:t>samples</a:t>
            </a:r>
            <a:r>
              <a:rPr lang="en-US"/>
              <a:t> it was higher qsvm</a:t>
            </a:r>
            <a:endParaRPr/>
          </a:p>
        </p:txBody>
      </p:sp>
      <p:sp>
        <p:nvSpPr>
          <p:cNvPr id="303" name="Google Shape;30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g39a5f66faea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3" name="Google Shape;323;g39a5f66faea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g39a5f66faea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g39a5f66faea_0_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g39a5f66faea_0_3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g39a5f66faea_0_3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jp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914400" y="6400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TEXAS TECH UNIVERSITY  ·  Whitacre College of Engineering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914400" y="164592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Quantum Kernel-Based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14400" y="237744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Stock Market Regime Detection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800"/>
              <a:buFont typeface="Calibri"/>
              <a:buNone/>
            </a:pPr>
            <a:r>
              <a:rPr b="1" i="1" lang="en-US" sz="48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using QSVM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Rushikesh Reddy Bayyapu   ·   Md Mehedi Hasan   ·   Af</a:t>
            </a:r>
            <a:r>
              <a:rPr lang="en-US" sz="1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b="0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han Javed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Quantum Computing Course Project   ·   Spring 2026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 · 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What are we solving and why use quantum?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" name="Google Shape;31;p2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" name="Google Shape;32;p2"/>
          <p:cNvSpPr/>
          <p:nvPr/>
        </p:nvSpPr>
        <p:spPr>
          <a:xfrm>
            <a:off x="457200" y="1691640"/>
            <a:ext cx="5486400" cy="44805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"/>
          <p:cNvSpPr/>
          <p:nvPr/>
        </p:nvSpPr>
        <p:spPr>
          <a:xfrm>
            <a:off x="457200" y="1691640"/>
            <a:ext cx="73152" cy="44805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"/>
          <p:cNvSpPr/>
          <p:nvPr/>
        </p:nvSpPr>
        <p:spPr>
          <a:xfrm>
            <a:off x="777240" y="182880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777240" y="214884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Three-class daily regime detection on Apple (AAPL) returns: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868680" y="2697480"/>
            <a:ext cx="49377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59669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059669"/>
                </a:solidFill>
                <a:latin typeface="Calibri"/>
                <a:ea typeface="Calibri"/>
                <a:cs typeface="Calibri"/>
                <a:sym typeface="Calibri"/>
              </a:rPr>
              <a:t>Upward trends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DC2626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DC2626"/>
                </a:solidFill>
                <a:latin typeface="Calibri"/>
                <a:ea typeface="Calibri"/>
                <a:cs typeface="Calibri"/>
                <a:sym typeface="Calibri"/>
              </a:rPr>
              <a:t>Downward trends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2563EB"/>
              </a:buClr>
              <a:buSzPts val="1600"/>
              <a:buFont typeface="Calibri"/>
              <a:buChar char="•"/>
            </a:pPr>
            <a:r>
              <a:rPr b="1" i="0" lang="en-US" sz="1600" u="none" cap="none" strike="noStrike">
                <a:solidFill>
                  <a:srgbClr val="2563EB"/>
                </a:solidFill>
                <a:latin typeface="Calibri"/>
                <a:ea typeface="Calibri"/>
                <a:cs typeface="Calibri"/>
                <a:sym typeface="Calibri"/>
              </a:rPr>
              <a:t>Flat consolidation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777240" y="4069080"/>
            <a:ext cx="50292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Compare a QSVM with a ZZ-feature-map kernel against a classical SVM with an RBF kernel </a:t>
            </a:r>
            <a:r>
              <a:rPr i="1" lang="en-US" sz="15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using</a:t>
            </a: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same engineered features.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777240" y="56235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rPr>
              <a:t>AAPL daily OHLCV  ·  2019–2024  ·  ~1,238 trading days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6400800" y="18288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QUANTUM?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6400800" y="2240280"/>
            <a:ext cx="53035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/>
          <p:nvPr/>
        </p:nvSpPr>
        <p:spPr>
          <a:xfrm>
            <a:off x="6400800" y="2240280"/>
            <a:ext cx="731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6583680" y="23317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Pairwise interactions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583680" y="26974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reason quantum is interesting for this problem is that the ZZ feature map can encode pairwise interactions between features through entanglement, which is something RBF can't really capture.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6400800" y="3611880"/>
            <a:ext cx="5303520" cy="1188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6400800" y="3611880"/>
            <a:ext cx="73152" cy="11887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6583680" y="37033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Exponential feature space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6583680" y="4069080"/>
            <a:ext cx="5029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qubits give us a Hilbert space of dimension 16, which is a richer feature space than what RBF works with.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583680" y="507492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3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 · RELATED WORK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What others have done </a:t>
            </a:r>
            <a:r>
              <a:rPr b="1" lang="en-US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–</a:t>
            </a: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three foundational papers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9" name="Google Shape;59;p3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3"/>
          <p:cNvSpPr/>
          <p:nvPr/>
        </p:nvSpPr>
        <p:spPr>
          <a:xfrm>
            <a:off x="457200" y="1870241"/>
            <a:ext cx="11247000" cy="961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457200" y="1870241"/>
            <a:ext cx="73200" cy="961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731520" y="1881557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Havlíček et al.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Nature 567 · 2019 [1]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731520" y="2183793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“Supervised learning with quantum-enhanced feature spaces”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731520" y="2396526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1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which introduced the ZZ feature map circuit we use in this project. They demonstrated it on actual IBM quantum hardware, and their circuit is the direct foundation for our implementation.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8686800" y="2220184"/>
            <a:ext cx="2926200" cy="365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8686800" y="2220184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Foundation for our circuit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57200" y="2913670"/>
            <a:ext cx="11247000" cy="10557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457200" y="2913670"/>
            <a:ext cx="73200" cy="1055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731520" y="2951704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Schuld &amp; Killoran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Phys. Rev. Lett. 122 · 2019 [2]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731520" y="3262842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“Quantum machine learning in feature Hilbert spaces”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731520" y="3466674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showed that quantum circuits can map data into a high-dimensional Hilbert space, and the overlap between two quantum states becomes a kernel value — which is exactly why we can feed our quantum kernel matrix directly into a standard SVM.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8686800" y="3254724"/>
            <a:ext cx="2926200" cy="365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8686800" y="3254724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Justifies precomputed-kernel SVM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7200" y="4046128"/>
            <a:ext cx="11247000" cy="9612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57200" y="4046128"/>
            <a:ext cx="73200" cy="961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731520" y="4084164"/>
            <a:ext cx="8229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Rebentrost, Mohseni &amp; Lloyd</a:t>
            </a:r>
            <a:r>
              <a:rPr b="0" i="0" lang="en-US" sz="13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  Phys. Rev. Lett. 113 · 2014 [3]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731520" y="4324087"/>
            <a:ext cx="107898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“Quantum support vector machine for big data classification”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31520" y="4474508"/>
            <a:ext cx="77724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They were the first to propose that quantum computers could train SVMs significantly faster than classical ones, and this paper is really what anchors our whole classical versus quantum comparison.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8686800" y="4333773"/>
            <a:ext cx="2926200" cy="3657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8686800" y="4333773"/>
            <a:ext cx="2926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Anchors the QSVM-vs-classical comparison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457200" y="5116611"/>
            <a:ext cx="11247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All three are Scopus-indexed; each exceeds 1,000 citations on Google Scholar.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57200" y="5532481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INFORMAL SOURCES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457200" y="1518275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SCOPUS-INDEXED REFERENCES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39396" y="5803383"/>
            <a:ext cx="50292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QisKit ML documentation [4]</a:t>
            </a:r>
            <a:endParaRPr b="1"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</a:t>
            </a:r>
            <a:r>
              <a:rPr b="1"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Yahoo Finance [5]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4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· 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Pipeline: from raw prices to quantum kernel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4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" name="Google Shape;96;p4"/>
          <p:cNvSpPr/>
          <p:nvPr/>
        </p:nvSpPr>
        <p:spPr>
          <a:xfrm>
            <a:off x="457200" y="1828800"/>
            <a:ext cx="2103120" cy="1691640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"/>
          <p:cNvSpPr/>
          <p:nvPr/>
        </p:nvSpPr>
        <p:spPr>
          <a:xfrm>
            <a:off x="594360" y="196596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9436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1097280" y="19933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Download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4360" y="2514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AAPL OHLCV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2019–2024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yfinance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 rot="5400000">
            <a:off x="2578608" y="2601468"/>
            <a:ext cx="146304" cy="146304"/>
          </a:xfrm>
          <a:prstGeom prst="rtTriangl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2743200" y="1828800"/>
            <a:ext cx="2103120" cy="1691640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2880360" y="196596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288036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/>
          <p:nvPr/>
        </p:nvSpPr>
        <p:spPr>
          <a:xfrm>
            <a:off x="3383280" y="19933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Features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2880360" y="2514600"/>
            <a:ext cx="1828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Rolling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Volatility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RSI</a:t>
            </a:r>
            <a:endParaRPr sz="12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Momentum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 rot="5400000">
            <a:off x="4864608" y="2601468"/>
            <a:ext cx="146304" cy="146304"/>
          </a:xfrm>
          <a:prstGeom prst="rtTriangl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5029200" y="1828800"/>
            <a:ext cx="2103120" cy="1691640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166360" y="196596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16636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669280" y="19933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Label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166350" y="2431251"/>
            <a:ext cx="182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Up / Down / Flat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0/1/2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 rot="5400000">
            <a:off x="7150608" y="2601468"/>
            <a:ext cx="146304" cy="146304"/>
          </a:xfrm>
          <a:prstGeom prst="rtTriangl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7315200" y="1828800"/>
            <a:ext cx="2103120" cy="1691640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7452360" y="196596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"/>
          <p:cNvSpPr/>
          <p:nvPr/>
        </p:nvSpPr>
        <p:spPr>
          <a:xfrm>
            <a:off x="745236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7955280" y="19933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Scale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7452350" y="2478881"/>
            <a:ext cx="1828800" cy="72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MinMax → [0, 2π]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matches Rz period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 each qubit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 rot="5400000">
            <a:off x="9436608" y="2601468"/>
            <a:ext cx="146304" cy="146304"/>
          </a:xfrm>
          <a:prstGeom prst="rtTriangl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9601200" y="1828800"/>
            <a:ext cx="2103120" cy="1691640"/>
          </a:xfrm>
          <a:prstGeom prst="rect">
            <a:avLst/>
          </a:prstGeom>
          <a:solidFill>
            <a:srgbClr val="F8F9FB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9738360" y="196596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9738360" y="1965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10241280" y="1993392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Classify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9738350" y="2431256"/>
            <a:ext cx="1828800" cy="81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QSVM (ZZ kernel)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Classical SVM (RBF)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57200" y="3649975"/>
            <a:ext cx="5486400" cy="21489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57200" y="3649975"/>
            <a:ext cx="73200" cy="21489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777240" y="3676364"/>
            <a:ext cx="5029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FOUR ENGINEERED FEATURES → FOUR QUBITS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777240" y="3988118"/>
            <a:ext cx="5029200" cy="178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Rolling return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daily price change relative to recent days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volatility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standard deviation of returns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RSI (Relative Strength Index)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bounded 0–100 momentum oscillator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Momentum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 price difference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6400800" y="3640646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CLASSICAL BASELINE (SVM)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svr_fig.jpg" id="130" name="Google Shape;13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4000024"/>
            <a:ext cx="2706625" cy="169164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4"/>
          <p:cNvSpPr/>
          <p:nvPr/>
        </p:nvSpPr>
        <p:spPr>
          <a:xfrm>
            <a:off x="9290304" y="3899059"/>
            <a:ext cx="2414100" cy="155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Decision boundary </a:t>
            </a:r>
            <a:r>
              <a:rPr i="1"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and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margin band; the points on the </a:t>
            </a:r>
            <a:r>
              <a:rPr i="1"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boundary </a:t>
            </a:r>
            <a:r>
              <a:rPr b="0" i="1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are the support vectors that define the classifier.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· 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ZZ feature map: encoding data into qubits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2" name="Google Shape;142;p5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" name="Google Shape;143;p5"/>
          <p:cNvSpPr/>
          <p:nvPr/>
        </p:nvSpPr>
        <p:spPr>
          <a:xfrm>
            <a:off x="457200" y="169164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ENCODING IN TWO STAGES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457200" y="2057400"/>
            <a:ext cx="4043400" cy="1458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94360" y="2194560"/>
            <a:ext cx="457200" cy="4572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594360" y="21945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1143000" y="2194550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Single-qubit encoding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594350" y="2697475"/>
            <a:ext cx="38229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Apply Hadamard, then a Z-rotation by 2·xᵢ 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on each of the 4 qubits — one qubit carries one feature.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457200" y="3541875"/>
            <a:ext cx="4043400" cy="15789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594360" y="3679036"/>
            <a:ext cx="457200" cy="45720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594360" y="367903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1143000" y="3679025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Pairwise entanglement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594352" y="4181950"/>
            <a:ext cx="38229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For every qubit pair (i,j): CNOT, then Rz by angle 2·(π−xᵢ)·(π−xⱼ), then CNOT. 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angle depends on both features — the entangled interaction.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457200" y="5349250"/>
            <a:ext cx="4043400" cy="868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594352" y="5440675"/>
            <a:ext cx="38229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Six pairs × CNOT–Rz–CNOT = where the “quantum” actually happens.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872025" y="1691640"/>
            <a:ext cx="576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CIRCUIT (4 QUBITS, FORWARD PASS U(x))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ircuit_feature_map.png" id="157" name="Google Shape;157;p5"/>
          <p:cNvPicPr preferRelativeResize="0"/>
          <p:nvPr/>
        </p:nvPicPr>
        <p:blipFill rotWithShape="1">
          <a:blip r:embed="rId3">
            <a:alphaModFix/>
          </a:blip>
          <a:srcRect b="0" l="3082" r="0" t="0"/>
          <a:stretch/>
        </p:blipFill>
        <p:spPr>
          <a:xfrm>
            <a:off x="4691075" y="2092726"/>
            <a:ext cx="7332754" cy="1915363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/>
          <p:nvPr/>
        </p:nvSpPr>
        <p:spPr>
          <a:xfrm>
            <a:off x="5711213" y="4069078"/>
            <a:ext cx="57606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Each qubit gets H + Rz, then six entangling blocks across all 4 pairs.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872025" y="4762506"/>
            <a:ext cx="6915000" cy="11193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000631" y="4989681"/>
            <a:ext cx="6631800" cy="100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Read right-to-left: encode each feature on its own qubit (Stage 1), then entangle every pair with feature-dependent angles (Stage 2).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3" name="Google Shape;163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70000" y="4893606"/>
            <a:ext cx="4888806" cy="32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3 · METHODOLOGY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From the encoding to a kernel a classical SVM can use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2" name="Google Shape;172;p6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3" name="Google Shape;173;p6"/>
          <p:cNvSpPr/>
          <p:nvPr/>
        </p:nvSpPr>
        <p:spPr>
          <a:xfrm>
            <a:off x="457200" y="1691640"/>
            <a:ext cx="11247120" cy="1371600"/>
          </a:xfrm>
          <a:prstGeom prst="rect">
            <a:avLst/>
          </a:prstGeom>
          <a:solidFill>
            <a:srgbClr val="1E1E1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"/>
          <p:cNvSpPr/>
          <p:nvPr/>
        </p:nvSpPr>
        <p:spPr>
          <a:xfrm>
            <a:off x="640080" y="1783080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THE QUANTUM KERNEL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640080" y="2743200"/>
            <a:ext cx="10972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The probability that encoding x₁ and un-encoding x₂ to return the qubits to all-zeros.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57200" y="3337552"/>
            <a:ext cx="3657600" cy="184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6"/>
          <p:cNvSpPr/>
          <p:nvPr/>
        </p:nvSpPr>
        <p:spPr>
          <a:xfrm>
            <a:off x="457200" y="3337560"/>
            <a:ext cx="3657600" cy="731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40080" y="3520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STEP 1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40080" y="382219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Run circuit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640075" y="4251950"/>
            <a:ext cx="32919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Apply U(x₁) then U†(x₂) on |0000⟩.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Measure all 4 qubits.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4,000 shots per kernel entry.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4251950" y="3337552"/>
            <a:ext cx="3657600" cy="184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6"/>
          <p:cNvSpPr/>
          <p:nvPr/>
        </p:nvSpPr>
        <p:spPr>
          <a:xfrm>
            <a:off x="4251960" y="3337560"/>
            <a:ext cx="3657600" cy="731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6"/>
          <p:cNvSpPr/>
          <p:nvPr/>
        </p:nvSpPr>
        <p:spPr>
          <a:xfrm>
            <a:off x="4434840" y="3520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STEP 2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434840" y="382219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Estimate K (</a:t>
            </a:r>
            <a:r>
              <a:rPr b="1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</a:t>
            </a:r>
            <a:r>
              <a:rPr b="1" lang="en-US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bability)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434850" y="4251951"/>
            <a:ext cx="32919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Kernel = fraction of shots that returned 0000.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more similar x₁ and x₂, the higher this is.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8046725" y="3337550"/>
            <a:ext cx="3657600" cy="18405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5400000" dist="12700">
              <a:srgbClr val="000000">
                <a:alpha val="5882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8046720" y="3337560"/>
            <a:ext cx="3657600" cy="73152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8229600" y="35204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STEP 3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8229600" y="3822192"/>
            <a:ext cx="3291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Train SVM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8229600" y="4251950"/>
            <a:ext cx="3291900" cy="86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Build the full kernel matrix.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SVM trained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with kernel='precomputed' and balanced class weights.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528425" y="5338981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ENVIRONMENT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510625" y="5677794"/>
            <a:ext cx="50292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Macbook Air (8GB RAM, M1 Processor)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Anaconda navigator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Python 3 </a:t>
            </a:r>
            <a:endParaRPr b="1"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Qiskit BasicSimulator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400800" y="5369018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PACKAGES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400800" y="5649831"/>
            <a:ext cx="5029200" cy="70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</a:t>
            </a:r>
            <a:r>
              <a:rPr b="1"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qiskit                        </a:t>
            </a: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sklearn 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yfinance      · numpy 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pandas        · matplotlib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97" name="Google Shape;197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29025" y="2176450"/>
            <a:ext cx="5086350" cy="447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·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QSVM </a:t>
            </a:r>
            <a:r>
              <a:rPr b="1" lang="en-US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vs</a:t>
            </a: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classical SVM results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6" name="Google Shape;206;p7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7" name="Google Shape;207;p7"/>
          <p:cNvSpPr/>
          <p:nvPr/>
        </p:nvSpPr>
        <p:spPr>
          <a:xfrm>
            <a:off x="457200" y="1691640"/>
            <a:ext cx="3657600" cy="15087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57200" y="1691640"/>
            <a:ext cx="73152" cy="1508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7"/>
          <p:cNvSpPr/>
          <p:nvPr/>
        </p:nvSpPr>
        <p:spPr>
          <a:xfrm>
            <a:off x="685800" y="1783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TEST ACCURACY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685800" y="2057400"/>
            <a:ext cx="3383400" cy="777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5000"/>
              <a:buFont typeface="Calibri"/>
              <a:buNone/>
            </a:pPr>
            <a:r>
              <a:rPr b="1" i="0" lang="en-US" sz="45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0.7</a:t>
            </a:r>
            <a:r>
              <a:rPr b="1" lang="en-US" sz="45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1" i="0" lang="en-US" sz="45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4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594363" y="2834640"/>
            <a:ext cx="3383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vs. </a:t>
            </a:r>
            <a:r>
              <a:rPr b="1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0.720 classical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251960" y="1691640"/>
            <a:ext cx="3657600" cy="15087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"/>
          <p:cNvSpPr/>
          <p:nvPr/>
        </p:nvSpPr>
        <p:spPr>
          <a:xfrm>
            <a:off x="4251960" y="1691640"/>
            <a:ext cx="73152" cy="1508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480560" y="1783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FLAT-CLASS F1 GAIN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4480560" y="20574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+0.14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480560" y="28346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0.55 → </a:t>
            </a:r>
            <a:r>
              <a:rPr b="1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0.69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8046720" y="1691640"/>
            <a:ext cx="3657600" cy="150876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8046720" y="1691640"/>
            <a:ext cx="73152" cy="150876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8275320" y="1783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TRAINING SAMPLES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8275320" y="2057400"/>
            <a:ext cx="3383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5000"/>
              <a:buFont typeface="Calibri"/>
              <a:buNone/>
            </a:pPr>
            <a:r>
              <a:rPr b="1" i="0" lang="en-US" sz="5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200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8275320" y="283464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1" lang="en-US" sz="15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100 test · 4k shots/kernel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57200" y="3383280"/>
            <a:ext cx="11247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CONFUSION MATRICES — CLASSICAL SVM vs QSVM (200 train)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5" name="Google Shape;225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91737" y="3657600"/>
            <a:ext cx="7160935" cy="2788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8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8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4 · RESULTS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Where QSVM wins and when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4" name="Google Shape;234;p8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5" name="Google Shape;235;p8"/>
          <p:cNvSpPr/>
          <p:nvPr/>
        </p:nvSpPr>
        <p:spPr>
          <a:xfrm>
            <a:off x="457200" y="4323875"/>
            <a:ext cx="5760600" cy="1182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457200" y="4323875"/>
            <a:ext cx="73200" cy="118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685800" y="4415314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WHY QSVM WINS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8"/>
          <p:cNvSpPr/>
          <p:nvPr/>
        </p:nvSpPr>
        <p:spPr>
          <a:xfrm>
            <a:off x="685800" y="4662075"/>
            <a:ext cx="5486400" cy="714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Classical SVM handles Up/Down class well but breaks on Flat (F1=0.55). 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QSVM 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handles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Flat 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class more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because the entangled feature interactions separate samples that look identical to RBF in raw Euclidean space.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/>
          <p:nvPr/>
        </p:nvSpPr>
        <p:spPr>
          <a:xfrm>
            <a:off x="6309350" y="4323875"/>
            <a:ext cx="5760600" cy="118200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6309350" y="4323875"/>
            <a:ext cx="73200" cy="1182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8"/>
          <p:cNvSpPr/>
          <p:nvPr/>
        </p:nvSpPr>
        <p:spPr>
          <a:xfrm>
            <a:off x="6537960" y="4415314"/>
            <a:ext cx="5486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SAMPLE-SIZE CROSSOVER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8"/>
          <p:cNvSpPr/>
          <p:nvPr/>
        </p:nvSpPr>
        <p:spPr>
          <a:xfrm>
            <a:off x="6537950" y="4623288"/>
            <a:ext cx="54864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100 samples: QSVM 0.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583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&lt; classical 0.70. 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200 samples: QSVM 0.7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&gt; classical 0.72. </a:t>
            </a:r>
            <a:endParaRPr b="0" i="0" sz="1300" u="none" cap="none" strike="noStrike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The richer quantum feature space needs enough support vectors before it pays off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8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480800" y="5647426"/>
            <a:ext cx="54864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SOFTWARE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8"/>
          <p:cNvSpPr/>
          <p:nvPr/>
        </p:nvSpPr>
        <p:spPr>
          <a:xfrm>
            <a:off x="462996" y="5973302"/>
            <a:ext cx="5029200" cy="502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Notebook:</a:t>
            </a:r>
            <a:r>
              <a:rPr lang="en-US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Github repo: quantum_class_qsvm_project </a:t>
            </a:r>
            <a:endParaRPr sz="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lang="en-US" sz="9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            https://github.com/mehedi28/quantum_class_qsvm_project</a:t>
            </a:r>
            <a:endParaRPr sz="9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t/>
            </a:r>
            <a:endParaRPr b="1" sz="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· Runtime:  </a:t>
            </a:r>
            <a:r>
              <a:rPr lang="en-U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~15-20 minutes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6309363" y="5705844"/>
            <a:ext cx="14217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REPRODUCIBILITY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8"/>
          <p:cNvSpPr/>
          <p:nvPr/>
        </p:nvSpPr>
        <p:spPr>
          <a:xfrm>
            <a:off x="6309361" y="5973289"/>
            <a:ext cx="1601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rPr b="1" lang="en-US" sz="12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random_sate = 42</a:t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300"/>
              <a:buFont typeface="Calibri"/>
              <a:buNone/>
            </a:pPr>
            <a:r>
              <a:t/>
            </a:r>
            <a:endParaRPr b="1" sz="12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249" name="Google Shape;24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796" y="1505712"/>
            <a:ext cx="7117327" cy="2665762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2398" y="1505712"/>
            <a:ext cx="3891701" cy="26657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9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9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5 · REFLECTIONS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Lessons learned and </a:t>
            </a:r>
            <a:r>
              <a:rPr b="1" lang="en-US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9" name="Google Shape;259;p9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9"/>
          <p:cNvSpPr/>
          <p:nvPr/>
        </p:nvSpPr>
        <p:spPr>
          <a:xfrm>
            <a:off x="457200" y="1691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9"/>
          <p:cNvSpPr/>
          <p:nvPr/>
        </p:nvSpPr>
        <p:spPr>
          <a:xfrm>
            <a:off x="457200" y="2103120"/>
            <a:ext cx="5486400" cy="8686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9"/>
          <p:cNvSpPr/>
          <p:nvPr/>
        </p:nvSpPr>
        <p:spPr>
          <a:xfrm>
            <a:off x="594360" y="233172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9"/>
          <p:cNvSpPr/>
          <p:nvPr/>
        </p:nvSpPr>
        <p:spPr>
          <a:xfrm>
            <a:off x="594360" y="233172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9"/>
          <p:cNvSpPr/>
          <p:nvPr/>
        </p:nvSpPr>
        <p:spPr>
          <a:xfrm>
            <a:off x="1097280" y="219456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Entanglement </a:t>
            </a:r>
            <a:r>
              <a:rPr b="1" i="0" lang="en-US" sz="14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is not optional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9"/>
          <p:cNvSpPr/>
          <p:nvPr/>
        </p:nvSpPr>
        <p:spPr>
          <a:xfrm>
            <a:off x="1097280" y="25146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Without CNOTs, the quantum kernel did not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9"/>
          <p:cNvSpPr/>
          <p:nvPr/>
        </p:nvSpPr>
        <p:spPr>
          <a:xfrm>
            <a:off x="457200" y="3063240"/>
            <a:ext cx="5486400" cy="8686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9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9"/>
          <p:cNvSpPr/>
          <p:nvPr/>
        </p:nvSpPr>
        <p:spPr>
          <a:xfrm>
            <a:off x="594360" y="3291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9"/>
          <p:cNvSpPr/>
          <p:nvPr/>
        </p:nvSpPr>
        <p:spPr>
          <a:xfrm>
            <a:off x="1097280" y="315468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Inverse circuits are tricky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9"/>
          <p:cNvSpPr/>
          <p:nvPr/>
        </p:nvSpPr>
        <p:spPr>
          <a:xfrm>
            <a:off x="1097280" y="3442115"/>
            <a:ext cx="475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To undo encoding, reverse gate order and flip every rotation sign. 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9"/>
          <p:cNvSpPr/>
          <p:nvPr/>
        </p:nvSpPr>
        <p:spPr>
          <a:xfrm>
            <a:off x="457200" y="4023360"/>
            <a:ext cx="5486400" cy="8686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9"/>
          <p:cNvSpPr/>
          <p:nvPr/>
        </p:nvSpPr>
        <p:spPr>
          <a:xfrm>
            <a:off x="594360" y="425196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9"/>
          <p:cNvSpPr/>
          <p:nvPr/>
        </p:nvSpPr>
        <p:spPr>
          <a:xfrm>
            <a:off x="594360" y="42519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9"/>
          <p:cNvSpPr/>
          <p:nvPr/>
        </p:nvSpPr>
        <p:spPr>
          <a:xfrm>
            <a:off x="1097280" y="411480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QNNs didn't work, kernels did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9"/>
          <p:cNvSpPr/>
          <p:nvPr/>
        </p:nvSpPr>
        <p:spPr>
          <a:xfrm>
            <a:off x="1097280" y="443484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Both QNN attempts collapsed; kernel methods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worked better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9"/>
          <p:cNvSpPr/>
          <p:nvPr/>
        </p:nvSpPr>
        <p:spPr>
          <a:xfrm>
            <a:off x="457200" y="4983480"/>
            <a:ext cx="5486400" cy="868680"/>
          </a:xfrm>
          <a:prstGeom prst="rect">
            <a:avLst/>
          </a:prstGeom>
          <a:solidFill>
            <a:srgbClr val="F8F9F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9"/>
          <p:cNvSpPr/>
          <p:nvPr/>
        </p:nvSpPr>
        <p:spPr>
          <a:xfrm>
            <a:off x="594360" y="5212080"/>
            <a:ext cx="411480" cy="411480"/>
          </a:xfrm>
          <a:prstGeom prst="ellipse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9"/>
          <p:cNvSpPr/>
          <p:nvPr/>
        </p:nvSpPr>
        <p:spPr>
          <a:xfrm>
            <a:off x="594360" y="521208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9"/>
          <p:cNvSpPr/>
          <p:nvPr/>
        </p:nvSpPr>
        <p:spPr>
          <a:xfrm>
            <a:off x="1097280" y="5074920"/>
            <a:ext cx="47548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Quantum needs enough data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9"/>
          <p:cNvSpPr/>
          <p:nvPr/>
        </p:nvSpPr>
        <p:spPr>
          <a:xfrm>
            <a:off x="1097280" y="539496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QSV classifies better with 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200 samples compared to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100 samples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Always test multiple sample sizes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9"/>
          <p:cNvSpPr/>
          <p:nvPr/>
        </p:nvSpPr>
        <p:spPr>
          <a:xfrm>
            <a:off x="6217920" y="169164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9"/>
          <p:cNvSpPr/>
          <p:nvPr/>
        </p:nvSpPr>
        <p:spPr>
          <a:xfrm>
            <a:off x="6217920" y="2103120"/>
            <a:ext cx="548640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9"/>
          <p:cNvSpPr/>
          <p:nvPr/>
        </p:nvSpPr>
        <p:spPr>
          <a:xfrm>
            <a:off x="6217920" y="2103120"/>
            <a:ext cx="73152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9"/>
          <p:cNvSpPr/>
          <p:nvPr/>
        </p:nvSpPr>
        <p:spPr>
          <a:xfrm>
            <a:off x="6400800" y="219456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Run on real hardware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9"/>
          <p:cNvSpPr/>
          <p:nvPr/>
        </p:nvSpPr>
        <p:spPr>
          <a:xfrm>
            <a:off x="6400800" y="25146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Move from BasicSimulator to IBM Quantum to measure noise impact.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9"/>
          <p:cNvSpPr/>
          <p:nvPr/>
        </p:nvSpPr>
        <p:spPr>
          <a:xfrm>
            <a:off x="6217920" y="3063240"/>
            <a:ext cx="548640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6217920" y="3063240"/>
            <a:ext cx="73152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"/>
          <p:cNvSpPr/>
          <p:nvPr/>
        </p:nvSpPr>
        <p:spPr>
          <a:xfrm>
            <a:off x="6400800" y="315468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More Qubits </a:t>
            </a:r>
            <a:r>
              <a:rPr b="1" lang="en-US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with more features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6400800" y="3474720"/>
            <a:ext cx="5212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8+ qubits </a:t>
            </a: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with more features for better regime detection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6217920" y="4023360"/>
            <a:ext cx="548640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9"/>
          <p:cNvSpPr/>
          <p:nvPr/>
        </p:nvSpPr>
        <p:spPr>
          <a:xfrm>
            <a:off x="6217920" y="4023360"/>
            <a:ext cx="73152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6400800" y="411480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Richer kernels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6400800" y="443484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Test advanced</a:t>
            </a:r>
            <a:r>
              <a:rPr b="0" i="0" lang="en-US" sz="12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quantum kernels for better expressivity.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6217920" y="4983480"/>
            <a:ext cx="5486400" cy="86868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6217920" y="4983480"/>
            <a:ext cx="73152" cy="8686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6400800" y="5074920"/>
            <a:ext cx="5212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400"/>
              <a:buFont typeface="Calibri"/>
              <a:buNone/>
            </a:pPr>
            <a:r>
              <a:rPr b="1" lang="en-US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Test other market stocks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6400800" y="539496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We tried only daily Apple Inc. data. Test more on different stocks, and crypto markets.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0"/>
          <p:cNvSpPr/>
          <p:nvPr/>
        </p:nvSpPr>
        <p:spPr>
          <a:xfrm>
            <a:off x="457200" y="457200"/>
            <a:ext cx="109728" cy="50292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0"/>
          <p:cNvSpPr/>
          <p:nvPr/>
        </p:nvSpPr>
        <p:spPr>
          <a:xfrm>
            <a:off x="685800" y="41148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6 · BONUS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0"/>
          <p:cNvSpPr/>
          <p:nvPr/>
        </p:nvSpPr>
        <p:spPr>
          <a:xfrm>
            <a:off x="685800" y="713232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Novelty</a:t>
            </a:r>
            <a:r>
              <a:rPr b="1" lang="en-US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and b</a:t>
            </a:r>
            <a:r>
              <a:rPr b="1" i="0" lang="en-US" sz="30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onus contributions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8" name="Google Shape;308;p10"/>
          <p:cNvCxnSpPr/>
          <p:nvPr/>
        </p:nvCxnSpPr>
        <p:spPr>
          <a:xfrm>
            <a:off x="457200" y="1417320"/>
            <a:ext cx="1124712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9" name="Google Shape;309;p10"/>
          <p:cNvSpPr/>
          <p:nvPr/>
        </p:nvSpPr>
        <p:spPr>
          <a:xfrm>
            <a:off x="457200" y="1691640"/>
            <a:ext cx="5760600" cy="461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0"/>
          <p:cNvSpPr/>
          <p:nvPr/>
        </p:nvSpPr>
        <p:spPr>
          <a:xfrm>
            <a:off x="457200" y="1691640"/>
            <a:ext cx="576072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(a) DOCUMENTED FAILURE DIAGNOSIS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0"/>
          <p:cNvSpPr/>
          <p:nvPr/>
        </p:nvSpPr>
        <p:spPr>
          <a:xfrm>
            <a:off x="685800" y="228600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Seven attempts</a:t>
            </a:r>
            <a:r>
              <a:rPr b="1" lang="en-US" sz="18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–</a:t>
            </a:r>
            <a:r>
              <a:rPr b="1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 all logged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0"/>
          <p:cNvSpPr/>
          <p:nvPr/>
        </p:nvSpPr>
        <p:spPr>
          <a:xfrm>
            <a:off x="685800" y="3017524"/>
            <a:ext cx="5394900" cy="18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Shot-noise gradient collapse (QNN attempts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1–2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Missing entanglement (Attempts 3–4): kernel gap &lt; 0.10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Range mismatch (Attempt 5): R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x/Ry gates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Broken adjoint (Attempt 6): self-kernel = 0.07 instead of 1.00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6309360" y="1691640"/>
            <a:ext cx="5760720" cy="46177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0"/>
          <p:cNvSpPr/>
          <p:nvPr/>
        </p:nvSpPr>
        <p:spPr>
          <a:xfrm>
            <a:off x="6309360" y="1691640"/>
            <a:ext cx="576072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10"/>
          <p:cNvSpPr/>
          <p:nvPr/>
        </p:nvSpPr>
        <p:spPr>
          <a:xfrm>
            <a:off x="649224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(b) SAMPLE-SIZE CROSSOVER EVIDENCE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0"/>
          <p:cNvSpPr/>
          <p:nvPr/>
        </p:nvSpPr>
        <p:spPr>
          <a:xfrm>
            <a:off x="6537960" y="2286000"/>
            <a:ext cx="53949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We pinpoint where quantum starts to repay its cost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0"/>
          <p:cNvSpPr/>
          <p:nvPr/>
        </p:nvSpPr>
        <p:spPr>
          <a:xfrm>
            <a:off x="6537950" y="3017524"/>
            <a:ext cx="5394900" cy="186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100 samples: classical 0.70 vs. QSVM 0.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583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classical wins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200 samples: classical 0.72 vs. QSVM 0.7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QSVM wins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Crossover localized between 100 and 200 training samples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334155"/>
              </a:buClr>
              <a:buSzPts val="1300"/>
              <a:buFont typeface="Calibri"/>
              <a:buChar char="•"/>
            </a:pP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Sample-size scaling </a:t>
            </a: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need to be followed</a:t>
            </a:r>
            <a:r>
              <a:rPr b="0" i="0" lang="en-US" sz="1300" u="none" cap="none" strike="noStrike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in QML benchmarks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9a5f66faea_0_65"/>
          <p:cNvSpPr/>
          <p:nvPr/>
        </p:nvSpPr>
        <p:spPr>
          <a:xfrm>
            <a:off x="457200" y="457200"/>
            <a:ext cx="109800" cy="502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g39a5f66faea_0_65"/>
          <p:cNvSpPr/>
          <p:nvPr/>
        </p:nvSpPr>
        <p:spPr>
          <a:xfrm>
            <a:off x="68580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CONTRIBUTIONS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9a5f66faea_0_65"/>
          <p:cNvSpPr/>
          <p:nvPr/>
        </p:nvSpPr>
        <p:spPr>
          <a:xfrm>
            <a:off x="685800" y="713232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Team Member Contribution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29" name="Google Shape;329;g39a5f66faea_0_65"/>
          <p:cNvCxnSpPr/>
          <p:nvPr/>
        </p:nvCxnSpPr>
        <p:spPr>
          <a:xfrm>
            <a:off x="457200" y="1417320"/>
            <a:ext cx="112470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0" name="Google Shape;330;g39a5f66faea_0_65"/>
          <p:cNvSpPr/>
          <p:nvPr/>
        </p:nvSpPr>
        <p:spPr>
          <a:xfrm>
            <a:off x="491218" y="1596400"/>
            <a:ext cx="7543800" cy="14850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g39a5f66faea_0_65"/>
          <p:cNvSpPr/>
          <p:nvPr/>
        </p:nvSpPr>
        <p:spPr>
          <a:xfrm>
            <a:off x="491218" y="1596400"/>
            <a:ext cx="75438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g39a5f66faea_0_65"/>
          <p:cNvSpPr/>
          <p:nvPr/>
        </p:nvSpPr>
        <p:spPr>
          <a:xfrm>
            <a:off x="674095" y="1596400"/>
            <a:ext cx="290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Rushikesh Reddy Bayyapu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g39a5f66faea_0_65"/>
          <p:cNvSpPr/>
          <p:nvPr/>
        </p:nvSpPr>
        <p:spPr>
          <a:xfrm>
            <a:off x="612943" y="2084025"/>
            <a:ext cx="29079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Topic selection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Data acquisition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Feature analysis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9a5f66faea_0_65"/>
          <p:cNvSpPr/>
          <p:nvPr/>
        </p:nvSpPr>
        <p:spPr>
          <a:xfrm>
            <a:off x="10972800" y="644652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g39a5f66faea_0_65"/>
          <p:cNvSpPr/>
          <p:nvPr/>
        </p:nvSpPr>
        <p:spPr>
          <a:xfrm>
            <a:off x="491218" y="6089333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9a5f66faea_0_65"/>
          <p:cNvSpPr/>
          <p:nvPr/>
        </p:nvSpPr>
        <p:spPr>
          <a:xfrm>
            <a:off x="522168" y="3501299"/>
            <a:ext cx="7543800" cy="118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g39a5f66faea_0_65"/>
          <p:cNvSpPr/>
          <p:nvPr/>
        </p:nvSpPr>
        <p:spPr>
          <a:xfrm>
            <a:off x="522168" y="3239349"/>
            <a:ext cx="7543800" cy="387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g39a5f66faea_0_65"/>
          <p:cNvSpPr/>
          <p:nvPr/>
        </p:nvSpPr>
        <p:spPr>
          <a:xfrm>
            <a:off x="705052" y="3239356"/>
            <a:ext cx="290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Md Mehedi Hasan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g39a5f66faea_0_65"/>
          <p:cNvSpPr/>
          <p:nvPr/>
        </p:nvSpPr>
        <p:spPr>
          <a:xfrm>
            <a:off x="596262" y="3726994"/>
            <a:ext cx="2807100" cy="9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Split train/test/validation set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Quantum kernel design and </a:t>
            </a: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implementation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9a5f66faea_0_65"/>
          <p:cNvSpPr txBox="1"/>
          <p:nvPr/>
        </p:nvSpPr>
        <p:spPr>
          <a:xfrm>
            <a:off x="3623768" y="2156300"/>
            <a:ext cx="2631300" cy="8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Result analysis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Background study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9a5f66faea_0_65"/>
          <p:cNvSpPr txBox="1"/>
          <p:nvPr/>
        </p:nvSpPr>
        <p:spPr>
          <a:xfrm>
            <a:off x="3666618" y="3780127"/>
            <a:ext cx="2631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Built the ZZ feature map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Result analysis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9a5f66faea_0_65"/>
          <p:cNvSpPr/>
          <p:nvPr/>
        </p:nvSpPr>
        <p:spPr>
          <a:xfrm>
            <a:off x="491218" y="5158230"/>
            <a:ext cx="7543800" cy="1185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9a5f66faea_0_65"/>
          <p:cNvSpPr/>
          <p:nvPr/>
        </p:nvSpPr>
        <p:spPr>
          <a:xfrm>
            <a:off x="491218" y="4884352"/>
            <a:ext cx="7543800" cy="3873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g39a5f66faea_0_65"/>
          <p:cNvSpPr/>
          <p:nvPr/>
        </p:nvSpPr>
        <p:spPr>
          <a:xfrm>
            <a:off x="674102" y="4848656"/>
            <a:ext cx="2907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Afahan Javed</a:t>
            </a:r>
            <a:endParaRPr b="0" i="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g39a5f66faea_0_65"/>
          <p:cNvSpPr/>
          <p:nvPr/>
        </p:nvSpPr>
        <p:spPr>
          <a:xfrm>
            <a:off x="577218" y="5419650"/>
            <a:ext cx="28071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Prepare project template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Project coordination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Team meeting management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g39a5f66faea_0_65"/>
          <p:cNvSpPr txBox="1"/>
          <p:nvPr/>
        </p:nvSpPr>
        <p:spPr>
          <a:xfrm>
            <a:off x="3635668" y="5377521"/>
            <a:ext cx="2631300" cy="90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Literature review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Writing and editing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1500"/>
              <a:buFont typeface="Calibri"/>
              <a:buChar char="●"/>
            </a:pPr>
            <a:r>
              <a:rPr b="1" lang="en-US" sz="15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Result analysis</a:t>
            </a:r>
            <a:endParaRPr b="1" sz="1500">
              <a:solidFill>
                <a:srgbClr val="1E1E1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9a5f66faea_0_39"/>
          <p:cNvSpPr/>
          <p:nvPr/>
        </p:nvSpPr>
        <p:spPr>
          <a:xfrm>
            <a:off x="457200" y="457200"/>
            <a:ext cx="109800" cy="5028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g39a5f66faea_0_39"/>
          <p:cNvSpPr/>
          <p:nvPr/>
        </p:nvSpPr>
        <p:spPr>
          <a:xfrm>
            <a:off x="685800" y="41148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1" i="0" lang="en-US" sz="11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 · </a:t>
            </a:r>
            <a:r>
              <a:rPr b="1" lang="en-US"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g39a5f66faea_0_39"/>
          <p:cNvSpPr/>
          <p:nvPr/>
        </p:nvSpPr>
        <p:spPr>
          <a:xfrm>
            <a:off x="685800" y="713232"/>
            <a:ext cx="109728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1E1E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1E1E1E"/>
                </a:solidFill>
                <a:latin typeface="Calibri"/>
                <a:ea typeface="Calibri"/>
                <a:cs typeface="Calibri"/>
                <a:sym typeface="Calibri"/>
              </a:rPr>
              <a:t>References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55" name="Google Shape;355;g39a5f66faea_0_39"/>
          <p:cNvCxnSpPr/>
          <p:nvPr/>
        </p:nvCxnSpPr>
        <p:spPr>
          <a:xfrm>
            <a:off x="457200" y="1417320"/>
            <a:ext cx="11247000" cy="0"/>
          </a:xfrm>
          <a:prstGeom prst="straightConnector1">
            <a:avLst/>
          </a:prstGeom>
          <a:noFill/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g39a5f66faea_0_39"/>
          <p:cNvSpPr/>
          <p:nvPr/>
        </p:nvSpPr>
        <p:spPr>
          <a:xfrm>
            <a:off x="457200" y="1691640"/>
            <a:ext cx="5760600" cy="461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g39a5f66faea_0_39"/>
          <p:cNvSpPr/>
          <p:nvPr/>
        </p:nvSpPr>
        <p:spPr>
          <a:xfrm>
            <a:off x="457200" y="1691640"/>
            <a:ext cx="57606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g39a5f66faea_0_39"/>
          <p:cNvSpPr/>
          <p:nvPr/>
        </p:nvSpPr>
        <p:spPr>
          <a:xfrm>
            <a:off x="64008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Papers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g39a5f66faea_0_39"/>
          <p:cNvSpPr/>
          <p:nvPr/>
        </p:nvSpPr>
        <p:spPr>
          <a:xfrm>
            <a:off x="685825" y="2487075"/>
            <a:ext cx="5394900" cy="216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[1]	V. Havlíček et al., “Supervised learning with quantum-enhanced feature spaces,” Nature, vol. 567, pp. 209–212, 2019. doi:10.1038/s41586-019-0980-2</a:t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[2]	M. Schuld and N. Killoran, “Quantum machine learning in feature Hilbert spaces,” Phys. Rev. Lett., vol. 122, p. 040504, 2019. doi:10.1103/PhysRevLett.122.040504</a:t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[3]	P. Rebentrost, M. Mohseni, and S. Lloyd, “Quantum support vector machine for big data classification,” Phys. Rev. Lett., vol. 113, p. 130503, 2014.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g39a5f66faea_0_39"/>
          <p:cNvSpPr/>
          <p:nvPr/>
        </p:nvSpPr>
        <p:spPr>
          <a:xfrm>
            <a:off x="6309360" y="1691640"/>
            <a:ext cx="5760600" cy="46176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5E7EB"/>
            </a:solidFill>
            <a:prstDash val="solid"/>
            <a:round/>
            <a:headEnd len="sm" w="sm" type="none"/>
            <a:tailEnd len="sm" w="sm" type="none"/>
          </a:ln>
          <a:effectLst>
            <a:outerShdw blurRad="76200" rotWithShape="0" algn="bl" dir="5400000" dist="25400">
              <a:srgbClr val="000000">
                <a:alpha val="784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g39a5f66faea_0_39"/>
          <p:cNvSpPr/>
          <p:nvPr/>
        </p:nvSpPr>
        <p:spPr>
          <a:xfrm>
            <a:off x="6309360" y="1691640"/>
            <a:ext cx="5760600" cy="4572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9a5f66faea_0_39"/>
          <p:cNvSpPr/>
          <p:nvPr/>
        </p:nvSpPr>
        <p:spPr>
          <a:xfrm>
            <a:off x="6492240" y="169164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Others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g39a5f66faea_0_39"/>
          <p:cNvSpPr/>
          <p:nvPr/>
        </p:nvSpPr>
        <p:spPr>
          <a:xfrm>
            <a:off x="6538000" y="2624625"/>
            <a:ext cx="5394900" cy="80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[4]	Qiskit Contributors, “Qiskit: An Open-source Framework,” IBM Quantum, 2024.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[5]	Yahoo Finance, AAPL daily OHLCV via yfinance, accessed 2024.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g39a5f66faea_0_39"/>
          <p:cNvSpPr/>
          <p:nvPr/>
        </p:nvSpPr>
        <p:spPr>
          <a:xfrm>
            <a:off x="10972800" y="6446520"/>
            <a:ext cx="9144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/ 1</a:t>
            </a:r>
            <a:r>
              <a:rPr lang="en-US" sz="10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g39a5f66faea_0_39"/>
          <p:cNvSpPr/>
          <p:nvPr/>
        </p:nvSpPr>
        <p:spPr>
          <a:xfrm>
            <a:off x="457200" y="6446520"/>
            <a:ext cx="7315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4748B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rPr>
              <a:t>QSVM Stock Regime Detection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1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914400" y="18288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i="0" lang="en-US" sz="8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8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11"/>
          <p:cNvSpPr/>
          <p:nvPr/>
        </p:nvSpPr>
        <p:spPr>
          <a:xfrm>
            <a:off x="914400" y="3108960"/>
            <a:ext cx="100584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4000"/>
              <a:buFont typeface="Calibri"/>
              <a:buNone/>
            </a:pPr>
            <a:r>
              <a:rPr b="0" i="1" lang="en-US" sz="4000" u="none" cap="none" strike="noStrike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74" name="Google Shape;374;p11"/>
          <p:cNvCxnSpPr/>
          <p:nvPr/>
        </p:nvCxnSpPr>
        <p:spPr>
          <a:xfrm>
            <a:off x="914400" y="4206240"/>
            <a:ext cx="5486400" cy="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5" name="Google Shape;375;p11"/>
          <p:cNvSpPr/>
          <p:nvPr/>
        </p:nvSpPr>
        <p:spPr>
          <a:xfrm>
            <a:off x="914400" y="635508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CA3AF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9CA3AF"/>
                </a:solidFill>
                <a:latin typeface="Calibri"/>
                <a:ea typeface="Calibri"/>
                <a:cs typeface="Calibri"/>
                <a:sym typeface="Calibri"/>
              </a:rPr>
              <a:t>Quantum Computing Course Project   ·   Texas Tech University   ·   Spring 2026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2026-04-28T15:57:34Z</dcterms:created>
  <dc:creator>Bayyapu, Hasan, Javed</dc:creator>
</cp:coreProperties>
</file>